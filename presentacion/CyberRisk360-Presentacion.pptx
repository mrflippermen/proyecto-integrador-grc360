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411480" cy="4114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1371600"/>
            <a:ext cx="411480" cy="41148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1783080"/>
            <a:ext cx="411480" cy="41148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SEGURIDAD INFORMÁTICA · ITIZ3301 · PROYECTO INTEGRADOR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E8EDF5"/>
                </a:solidFill>
                <a:latin typeface="Segoe UI"/>
              </a:rPr>
              <a:t>CyberRisk </a:t>
            </a:r>
            <a:r>
              <a:rPr sz="5800" b="1" i="0">
                <a:solidFill>
                  <a:srgbClr val="4C82F7"/>
                </a:solidFill>
                <a:latin typeface="Segoe UI"/>
              </a:rPr>
              <a:t>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1B8"/>
                </a:solidFill>
                <a:latin typeface="Segoe UI"/>
              </a:rPr>
              <a:t>Automatización de la gestión de riesgos cibernéticos con la metodología GRC-360, inteligencia de amenazas real y cumplimiento internacional.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6035040" cy="502920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A9C4FB"/>
                </a:solidFill>
                <a:latin typeface="Consolas"/>
              </a:rPr>
              <a:t>https://mrflippermen.github.io/proyecto-integrador-grc360/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Integrantes del grupo · Presentación ejecutiva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EL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Gestionar el riesgo cibernético es difícil… y caro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3319272" cy="21945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606040"/>
            <a:ext cx="2807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63A3A"/>
                </a:solidFill>
                <a:latin typeface="Segoe UI"/>
              </a:rPr>
              <a:t>USD 4.8M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566160"/>
            <a:ext cx="2807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Costo promedio global de una brecha de datos. La mayoría de PYMES no puede absorberlo.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331720"/>
            <a:ext cx="3319272" cy="21945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2606040"/>
            <a:ext cx="2807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590C"/>
                </a:solidFill>
                <a:latin typeface="Segoe UI"/>
              </a:rPr>
              <a:t>Hojas de cálculo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3566160"/>
            <a:ext cx="2807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Sin trazabilidad, sin priorización y sin actualización: así se gestiona el riesgo aún hoy.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331720"/>
            <a:ext cx="3319272" cy="21945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28072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A800"/>
                </a:solidFill>
                <a:latin typeface="Segoe UI"/>
              </a:rPr>
              <a:t>¿Qué primero?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66160"/>
            <a:ext cx="28072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Sin inteligencia de amenazas no se sabe qué se está explotando ahora en el mundo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Impacto económico, social y global: detrás de cada activo hay datos de personas que dependen de decisiones muchas veces invisibles.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El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NUESTRA PROPUESTA METODOLÓGICA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Metodología GRC-360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Un ciclo de seis fases, automatizable y trazable, alineado con estándares internacionales.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19272" cy="1481328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704" y="2596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21A29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4C82F7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307238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Valoración de activos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349300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Valoración CIA (1–5).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377440"/>
            <a:ext cx="3319272" cy="1481328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8" y="2596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21A29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4C82F7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07238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Identificación de riesgos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49300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Amenaza + vulnerabilidad · P × 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377440"/>
            <a:ext cx="3319272" cy="1481328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2" y="25968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21A29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4C82F7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072384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Tratamiento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493008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Controles ISO/IEC 27002:2022.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41648"/>
            <a:ext cx="3319272" cy="1481328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" y="426110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21A29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4C82F7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7365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Riesgo 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5157216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Recalculo automático.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041648"/>
            <a:ext cx="3319272" cy="1481328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6008" y="426110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21A29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4C82F7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7365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Comunicación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5157216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Observaciones e informes.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4041648"/>
            <a:ext cx="3319272" cy="1481328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1312" y="426110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121A29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4C82F7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4736592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Monitoreo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5157216"/>
            <a:ext cx="2843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Panel, KPIs y tendencia.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42432"/>
            <a:ext cx="1594713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ISO/IEC 27001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3977" y="5742432"/>
            <a:ext cx="1298448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27002:2022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08729" y="5742432"/>
            <a:ext cx="804672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27005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9705" y="5742432"/>
            <a:ext cx="1199692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ISO 31000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5701" y="5742432"/>
            <a:ext cx="1495958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NIST CSF 2.0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47963" y="5742432"/>
            <a:ext cx="1199692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CVSS v3.1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Metodología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CÓMO ESTÁ CONSTRUIDO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Arquitectura del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10515600" cy="91440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4D3C0"/>
                </a:solidFill>
                <a:latin typeface="Consola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3172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E8EDF5"/>
                </a:solidFill>
                <a:latin typeface="Segoe UI"/>
              </a:rPr>
              <a:t>Astro (SSR) + SCSS + TypeScript · gráficos Chart.js · app cliente estática en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2461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64748B"/>
                </a:solidFill>
                <a:latin typeface="Segoe U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10515600" cy="91440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4D3C0"/>
                </a:solidFill>
                <a:latin typeface="Consolas"/>
              </a:rPr>
              <a:t>BACKEND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56616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E8EDF5"/>
                </a:solidFill>
                <a:latin typeface="Segoe UI"/>
              </a:rPr>
              <a:t>Flask (API REST) · lógica GRC-360: CVSS 3.1, riesgo residual, VPR, Cyber Exposure Score,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48056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64748B"/>
                </a:solidFill>
                <a:latin typeface="Segoe U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0515600" cy="91440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4D3C0"/>
                </a:solidFill>
                <a:latin typeface="Consolas"/>
              </a:rPr>
              <a:t>DATOS · INTELIGENCIA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80060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E8EDF5"/>
                </a:solidFill>
                <a:latin typeface="Segoe UI"/>
              </a:rPr>
              <a:t>SQLite + SQLAlchemy   ·   NVD · EPSS · CISA KEV (APIs de inteligencia en vivo)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Arquitectura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FASES 1 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De los activos a la matriz de riesgo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682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Valoración CIA: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cada activo se califica 1–5 en Confidencialidad, Integridad y Disponibilidad; el valor es la dimensión más crítica.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325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50208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Riesgo =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Activo + Amenaza + Vulnerabilidad.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1888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36592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Riesgo inherente =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Probabilidad × Impacto (rango 1–25).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194560"/>
            <a:ext cx="4480560" cy="352044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3957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MATRIZ DE RIESGO 5×5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76148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9540" y="276148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76148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01100" y="276148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76148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2872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9540" y="32872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2872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1100" y="32872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28726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813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9540" y="3813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813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1100" y="3813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38130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3388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9540" y="43388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3388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1100" y="43388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433882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486460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49540" y="486460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486460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01100" y="486460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486460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5431536"/>
            <a:ext cx="14630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928" y="539496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Bajo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80" y="5431536"/>
            <a:ext cx="146304" cy="146304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5048" y="539496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Medio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5431536"/>
            <a:ext cx="146304" cy="146304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8" y="539496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Alto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04120" y="5431536"/>
            <a:ext cx="146304" cy="146304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05288" y="539496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Crítico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Valoración e identificación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FASES 3 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Tratamiento y riesgo residual automático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02182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Mitigar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71446" y="1965960"/>
            <a:ext cx="1298448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Transferir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6198" y="1965960"/>
            <a:ext cx="1002182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Aceptar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4684" y="1965960"/>
            <a:ext cx="903427" cy="402336"/>
          </a:xfrm>
          <a:prstGeom prst="roundRect">
            <a:avLst>
              <a:gd name="adj" fmla="val 28000"/>
            </a:avLst>
          </a:prstGeom>
          <a:solidFill>
            <a:srgbClr val="1A2A46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A9C4FB"/>
                </a:solidFill>
                <a:latin typeface="Segoe UI"/>
              </a:rPr>
              <a:t>Evitar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797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Cada tratamiento se asocia a un control ISO/IEC 27002:2022, un responsable y una eficacia estimada.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027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Riesgo residual = Inherente × (1 − eficacia)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de los controles, combinada de forma multiplicativa (rendimientos decrecientes).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1830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36008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Solo los controles implementados reducen el riesgo, y nunca llega a cero (máximo 90 % de reducción).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5412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58968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El residual, el VPR y el Cyber Exposure Score se recalculan solos con cada cambio.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Tratamiento y residual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INTELIGENCIA DE AMENAZAS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Priorizar por la amenaza real, no solo la teórica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3319272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2505456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4D3C0"/>
                </a:solidFill>
                <a:latin typeface="Segoe UI"/>
              </a:rPr>
              <a:t>CVSS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926080"/>
            <a:ext cx="28437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Severidad técnica oficial (NVD / FIRST.org).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286000"/>
            <a:ext cx="3319272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505456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0A800"/>
                </a:solidFill>
                <a:latin typeface="Segoe UI"/>
              </a:rPr>
              <a:t>EPSS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926080"/>
            <a:ext cx="28437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Probabilidad de explotación en los próximos 30 días.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286000"/>
            <a:ext cx="3319272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2505456"/>
            <a:ext cx="2843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D63A3A"/>
                </a:solidFill>
                <a:latin typeface="Segoe UI"/>
              </a:rPr>
              <a:t>CISA KEV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926080"/>
            <a:ext cx="28437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¿Se está explotando activamente en el mundo real?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60"/>
            <a:ext cx="10515600" cy="12801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43484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8EDF5"/>
                </a:solidFill>
                <a:latin typeface="Segoe UI"/>
              </a:rPr>
              <a:t>VPR — Vulnerability Priority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1B8"/>
                </a:solidFill>
                <a:latin typeface="Segoe UI"/>
              </a:rPr>
              <a:t>Combina CVSS + EPSS + KEV en una sola prioridad 0–10, al estilo Tenable.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805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Ej. Log4Shell (CVE-2021-44228)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34D3C0"/>
                </a:solidFill>
                <a:latin typeface="Segoe UI"/>
              </a:rPr>
              <a:t>VPR 10 · Crítica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Threat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DIFERENCIADOR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Valoración y mitigación </a:t>
            </a:r>
            <a:r>
              <a:rPr sz="3400" b="1" i="0">
                <a:solidFill>
                  <a:srgbClr val="4C82F7"/>
                </a:solidFill>
                <a:latin typeface="Segoe UI"/>
              </a:rPr>
              <a:t>automáticas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120640" cy="201168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2596896"/>
            <a:ext cx="4645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Valoración automática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017520"/>
            <a:ext cx="46451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Al elegir activo + amenaza + vulnerabilidad, el sistema calcula solo la probabilidad (desde EPSS/KEV) y el impacto (criticidad del activo + CVSS).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377440"/>
            <a:ext cx="5138928" cy="201168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25968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Mitigación automática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3017520"/>
            <a:ext cx="466344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Un motor de reglas recomienda los controles ISO 27002 adecuados, proyecta el riesgo residual y los aplica con un clic — individual o masivo.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El analista decide; el sistema hace los cálculos y propone. La responsabilidad profesional no se automatiza: todo queda en la bitácora de auditoría.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Automatización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CUMPLIMIENTO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Alineado a marcos internacionales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120640" cy="201168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2596896"/>
            <a:ext cx="4645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ISO/IEC 27001 · 27002:2022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017520"/>
            <a:ext cx="4645152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Cobertura del programa frente a los 93 controles del Anexo A, agrupados por tema: Organizacional, Personas, Físico y Tecnológico.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377440"/>
            <a:ext cx="5138928" cy="201168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259689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8EDF5"/>
                </a:solidFill>
                <a:latin typeface="Segoe UI"/>
              </a:rPr>
              <a:t>NIST CSF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3017520"/>
            <a:ext cx="466344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Distribución de controles en las 6 funciones del marco, revelando dónde reforzar la defensa.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03427" cy="402336"/>
          </a:xfrm>
          <a:prstGeom prst="roundRect">
            <a:avLst>
              <a:gd name="adj" fmla="val 28000"/>
            </a:avLst>
          </a:prstGeom>
          <a:solidFill>
            <a:srgbClr val="1E2A3E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93A1B8"/>
                </a:solidFill>
                <a:latin typeface="Segoe UI"/>
              </a:rPr>
              <a:t>Govern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2691" y="4754880"/>
            <a:ext cx="1100937" cy="402336"/>
          </a:xfrm>
          <a:prstGeom prst="roundRect">
            <a:avLst>
              <a:gd name="adj" fmla="val 28000"/>
            </a:avLst>
          </a:prstGeom>
          <a:solidFill>
            <a:srgbClr val="1E2A3E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93A1B8"/>
                </a:solidFill>
                <a:latin typeface="Segoe UI"/>
              </a:rPr>
              <a:t>Identify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9932" y="4754880"/>
            <a:ext cx="1002182" cy="402336"/>
          </a:xfrm>
          <a:prstGeom prst="roundRect">
            <a:avLst>
              <a:gd name="adj" fmla="val 28000"/>
            </a:avLst>
          </a:prstGeom>
          <a:solidFill>
            <a:srgbClr val="1E2A3E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93A1B8"/>
                </a:solidFill>
                <a:latin typeface="Segoe UI"/>
              </a:rPr>
              <a:t>Protect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8418" y="4754880"/>
            <a:ext cx="903427" cy="402336"/>
          </a:xfrm>
          <a:prstGeom prst="roundRect">
            <a:avLst>
              <a:gd name="adj" fmla="val 28000"/>
            </a:avLst>
          </a:prstGeom>
          <a:solidFill>
            <a:srgbClr val="1E2A3E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93A1B8"/>
                </a:solidFill>
                <a:latin typeface="Segoe UI"/>
              </a:rPr>
              <a:t>Detect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8149" y="4754880"/>
            <a:ext cx="1002182" cy="402336"/>
          </a:xfrm>
          <a:prstGeom prst="roundRect">
            <a:avLst>
              <a:gd name="adj" fmla="val 28000"/>
            </a:avLst>
          </a:prstGeom>
          <a:solidFill>
            <a:srgbClr val="1E2A3E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93A1B8"/>
                </a:solidFill>
                <a:latin typeface="Segoe UI"/>
              </a:rPr>
              <a:t>Respond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66635" y="4754880"/>
            <a:ext cx="1002182" cy="402336"/>
          </a:xfrm>
          <a:prstGeom prst="roundRect">
            <a:avLst>
              <a:gd name="adj" fmla="val 28000"/>
            </a:avLst>
          </a:prstGeom>
          <a:solidFill>
            <a:srgbClr val="1E2A3E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/>
            <a:r>
              <a:rPr sz="1100" b="1" i="0">
                <a:solidFill>
                  <a:srgbClr val="93A1B8"/>
                </a:solidFill>
                <a:latin typeface="Segoe UI"/>
              </a:rPr>
              <a:t>Recover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Cumplimiento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FASE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Panel de monitoreo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31720"/>
            <a:ext cx="3319272" cy="210312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569464"/>
            <a:ext cx="2807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CYBER EXPOSURE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990088"/>
            <a:ext cx="2807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A800"/>
                </a:solidFill>
                <a:latin typeface="Segoe UI"/>
              </a:rPr>
              <a:t>423 /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749040"/>
            <a:ext cx="2807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Exposición agregada de la organización.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331720"/>
            <a:ext cx="3319272" cy="210312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569464"/>
            <a:ext cx="2807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APETITO DE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990088"/>
            <a:ext cx="2807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63A3A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3749040"/>
            <a:ext cx="2807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Riesgos que exceden el umbral tolerado.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2331720"/>
            <a:ext cx="3319272" cy="210312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69464"/>
            <a:ext cx="2807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SLA DE REMEDIACIÓN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90088"/>
            <a:ext cx="28072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590C"/>
                </a:solidFill>
                <a:latin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749040"/>
            <a:ext cx="2807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Riesgos fuera de su ventana de tratamiento.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Más matriz de calor 5×5, distribución inherente vs. residual y tendencia de exposición histórica.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Monitoreo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FLUJO DE TRABAJO DE LA HERRAMIENTA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De un archivo Excel a decisiones informadas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2395728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871216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4D3C0"/>
                </a:solidFill>
                <a:latin typeface="Segoe UI"/>
              </a:rPr>
              <a:t>1 · CARGAR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55264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Importar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675888"/>
            <a:ext cx="1993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Activos y riesgos desde Excel/CSV.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651760"/>
            <a:ext cx="320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651760"/>
            <a:ext cx="2395728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9896" y="2871216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4D3C0"/>
                </a:solidFill>
                <a:latin typeface="Segoe UI"/>
              </a:rPr>
              <a:t>2 · VALORAR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3255264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Auto P ×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3675888"/>
            <a:ext cx="1993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El sistema sugiere probabilidad e impacto.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651760"/>
            <a:ext cx="320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651760"/>
            <a:ext cx="2395728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871216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4D3C0"/>
                </a:solidFill>
                <a:latin typeface="Segoe UI"/>
              </a:rPr>
              <a:t>3 · TRATAR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255264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Mitigación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675888"/>
            <a:ext cx="1993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Controles ISO recomendados y aplicados.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2651760"/>
            <a:ext cx="320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2651760"/>
            <a:ext cx="2395728" cy="1737360"/>
          </a:xfrm>
          <a:prstGeom prst="roundRect">
            <a:avLst>
              <a:gd name="adj" fmla="val 5500"/>
            </a:avLst>
          </a:prstGeom>
          <a:solidFill>
            <a:srgbClr val="182233"/>
          </a:solidFill>
          <a:ln w="12700">
            <a:solidFill>
              <a:srgbClr val="293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871216"/>
            <a:ext cx="1993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4D3C0"/>
                </a:solidFill>
                <a:latin typeface="Segoe UI"/>
              </a:rPr>
              <a:t>4 · MONITOREAR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255264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EDF5"/>
                </a:solidFill>
                <a:latin typeface="Segoe UI"/>
              </a:rPr>
              <a:t>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675888"/>
            <a:ext cx="1993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Residual, exposición y cumplimiento en vivo.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Todo el ciclo GRC-360 en un solo flujo, intuitivo y sin instalar nada.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Flujo de trabajo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RESPONSABILIDAD ÉTICA Y PROFESIONAL · RC4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EDF5"/>
                </a:solidFill>
                <a:latin typeface="Segoe UI"/>
              </a:rPr>
              <a:t>La decisión de diseño más importante es </a:t>
            </a:r>
            <a:r>
              <a:rPr sz="3200" b="1" i="0">
                <a:solidFill>
                  <a:srgbClr val="4C82F7"/>
                </a:solidFill>
                <a:latin typeface="Segoe UI"/>
              </a:rPr>
              <a:t>ética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511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Honestidad sobre los límites: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el riesgo residual nunca es cero y un tablero en verde no significa “estar seguro”.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107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28416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Rendición de cuentas: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la automatización no exime al profesional; todo queda trazado en la bitácora de auditoría.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7024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87952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Impacto en las personas: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proteger datos es un acto de respeto, no un mero requisito de cumplimiento.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97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47488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Conocimiento de doble uso: </a:t>
            </a:r>
            <a:r>
              <a:rPr sz="1500" b="0" i="0">
                <a:solidFill>
                  <a:srgbClr val="93A1B8"/>
                </a:solidFill>
                <a:latin typeface="Segoe UI"/>
              </a:rPr>
              <a:t>la inteligencia de amenazas se usa con una finalidad exclusivamente defensiva.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Ética profesional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DEMOSTRACIÓN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8EDF5"/>
                </a:solidFill>
                <a:latin typeface="Segoe UI"/>
              </a:rPr>
              <a:t>Pruébelo ahora — </a:t>
            </a:r>
            <a:r>
              <a:rPr sz="4600" b="1" i="0">
                <a:solidFill>
                  <a:srgbClr val="4C82F7"/>
                </a:solidFill>
                <a:latin typeface="Segoe UI"/>
              </a:rPr>
              <a:t>sin instalar nada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114800"/>
            <a:ext cx="6766560" cy="566928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2D4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1" i="0">
                <a:solidFill>
                  <a:srgbClr val="A9C4FB"/>
                </a:solidFill>
                <a:latin typeface="Consolas"/>
              </a:rPr>
              <a:t>https://mrflippermen.github.io/proyecto-integrador-grc360/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Abra el enlace en cualquier navegador. Caso de ejemplo ya cargado · carga de Excel · inteligencia de amenazas · mitigación automática.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4D3C0"/>
                </a:solidFill>
                <a:latin typeface="Segoe UI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E8EDF5"/>
                </a:solidFill>
                <a:latin typeface="Segoe UI"/>
              </a:rPr>
              <a:t>Tecnología de seguridad potente… y responsable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140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Automatizamos íntegramente la metodología GRC-360, de la valoración al monitoreo continuo.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552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72968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Alcanzamos estándares internacionales (ISO, NIST, CVSS, MITRE) con inteligencia de amenazas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965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14216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93A1B8"/>
                </a:solidFill>
                <a:latin typeface="Segoe UI"/>
              </a:rPr>
              <a:t>La valoración y la mitigación se calculan automáticamente, ayudando a decidir mejor y más rápido.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Gracias. ¿Preguntas?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635508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4C8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63367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CyberRisk 360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36792"/>
            <a:ext cx="3566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ITIZ3301 · Proyecto Integrador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